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Nunito" pitchFamily="2" charset="0"/>
      <p:regular r:id="rId18"/>
      <p:bold r:id="rId19"/>
      <p:italic r:id="rId20"/>
      <p:boldItalic r:id="rId21"/>
    </p:embeddedFont>
    <p:embeddedFont>
      <p:font typeface="Open Sans" panose="020B0606030504020204" pitchFamily="34" charset="0"/>
      <p:regular r:id="rId22"/>
      <p:bold r:id="rId23"/>
      <p:italic r:id="rId24"/>
      <p:boldItalic r:id="rId25"/>
    </p:embeddedFont>
    <p:embeddedFont>
      <p:font typeface="Open Sans Bold" panose="020B0806030504020204" charset="0"/>
      <p:regular r:id="rId26"/>
    </p:embeddedFont>
    <p:embeddedFont>
      <p:font typeface="Proxima Nova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946" y="3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3195961" y="5935345"/>
            <a:ext cx="8126677" cy="8126677"/>
          </a:xfrm>
          <a:custGeom>
            <a:avLst/>
            <a:gdLst/>
            <a:ahLst/>
            <a:cxnLst/>
            <a:rect l="l" t="t" r="r" b="b"/>
            <a:pathLst>
              <a:path w="8126677" h="8126677">
                <a:moveTo>
                  <a:pt x="0" y="0"/>
                </a:moveTo>
                <a:lnTo>
                  <a:pt x="8126678" y="0"/>
                </a:lnTo>
                <a:lnTo>
                  <a:pt x="8126678" y="8126677"/>
                </a:lnTo>
                <a:lnTo>
                  <a:pt x="0" y="81266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350137" y="-174299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994970" y="-1387826"/>
            <a:ext cx="3404467" cy="3404467"/>
          </a:xfrm>
          <a:custGeom>
            <a:avLst/>
            <a:gdLst/>
            <a:ahLst/>
            <a:cxnLst/>
            <a:rect l="l" t="t" r="r" b="b"/>
            <a:pathLst>
              <a:path w="3404467" h="3404467">
                <a:moveTo>
                  <a:pt x="0" y="0"/>
                </a:moveTo>
                <a:lnTo>
                  <a:pt x="3404466" y="0"/>
                </a:lnTo>
                <a:lnTo>
                  <a:pt x="3404466" y="3404467"/>
                </a:lnTo>
                <a:lnTo>
                  <a:pt x="0" y="3404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3897411" y="6636795"/>
            <a:ext cx="6723778" cy="6723778"/>
          </a:xfrm>
          <a:custGeom>
            <a:avLst/>
            <a:gdLst/>
            <a:ahLst/>
            <a:cxnLst/>
            <a:rect l="l" t="t" r="r" b="b"/>
            <a:pathLst>
              <a:path w="6723778" h="6723778">
                <a:moveTo>
                  <a:pt x="0" y="0"/>
                </a:moveTo>
                <a:lnTo>
                  <a:pt x="6723778" y="0"/>
                </a:lnTo>
                <a:lnTo>
                  <a:pt x="6723778" y="6723778"/>
                </a:lnTo>
                <a:lnTo>
                  <a:pt x="0" y="6723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4876906" y="7616290"/>
            <a:ext cx="4764788" cy="47647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499020" y="-891876"/>
            <a:ext cx="2412567" cy="241256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594638" y="1301616"/>
            <a:ext cx="15098724" cy="6042026"/>
          </a:xfrm>
          <a:prstGeom prst="rect">
            <a:avLst/>
          </a:prstGeom>
        </p:spPr>
        <p:txBody>
          <a:bodyPr lIns="0" tIns="0" rIns="0" bIns="0" rtlCol="0" anchor="t">
            <a:spAutoFit/>
          </a:bodyPr>
          <a:lstStyle/>
          <a:p>
            <a:pPr algn="ctr">
              <a:lnSpc>
                <a:spcPts val="16099"/>
              </a:lnSpc>
            </a:pPr>
            <a:r>
              <a:rPr lang="en-US" sz="11499" b="1">
                <a:solidFill>
                  <a:srgbClr val="000000"/>
                </a:solidFill>
                <a:latin typeface="Proxima Nova Bold"/>
                <a:ea typeface="Proxima Nova Bold"/>
                <a:cs typeface="Proxima Nova Bold"/>
                <a:sym typeface="Proxima Nova Bold"/>
              </a:rPr>
              <a:t>PROJECT CONCEPT PROPOSAL</a:t>
            </a:r>
          </a:p>
          <a:p>
            <a:pPr algn="ctr">
              <a:lnSpc>
                <a:spcPts val="16099"/>
              </a:lnSpc>
            </a:pPr>
            <a:endParaRPr lang="en-US" sz="11499" b="1">
              <a:solidFill>
                <a:srgbClr val="000000"/>
              </a:solidFill>
              <a:latin typeface="Proxima Nova Bold"/>
              <a:ea typeface="Proxima Nova Bold"/>
              <a:cs typeface="Proxima Nova Bold"/>
              <a:sym typeface="Proxima Nova Bold"/>
            </a:endParaRPr>
          </a:p>
        </p:txBody>
      </p:sp>
      <p:grpSp>
        <p:nvGrpSpPr>
          <p:cNvPr id="13" name="Group 13"/>
          <p:cNvGrpSpPr/>
          <p:nvPr/>
        </p:nvGrpSpPr>
        <p:grpSpPr>
          <a:xfrm>
            <a:off x="3858690" y="5143500"/>
            <a:ext cx="9849266" cy="2997989"/>
            <a:chOff x="0" y="0"/>
            <a:chExt cx="2594045" cy="789594"/>
          </a:xfrm>
        </p:grpSpPr>
        <p:sp>
          <p:nvSpPr>
            <p:cNvPr id="14" name="Freeform 14"/>
            <p:cNvSpPr/>
            <p:nvPr/>
          </p:nvSpPr>
          <p:spPr>
            <a:xfrm>
              <a:off x="0" y="0"/>
              <a:ext cx="2594045" cy="789594"/>
            </a:xfrm>
            <a:custGeom>
              <a:avLst/>
              <a:gdLst/>
              <a:ahLst/>
              <a:cxnLst/>
              <a:rect l="l" t="t" r="r" b="b"/>
              <a:pathLst>
                <a:path w="2594045" h="789594">
                  <a:moveTo>
                    <a:pt x="40088" y="0"/>
                  </a:moveTo>
                  <a:lnTo>
                    <a:pt x="2553957" y="0"/>
                  </a:lnTo>
                  <a:cubicBezTo>
                    <a:pt x="2576097" y="0"/>
                    <a:pt x="2594045" y="17948"/>
                    <a:pt x="2594045" y="40088"/>
                  </a:cubicBezTo>
                  <a:lnTo>
                    <a:pt x="2594045" y="749506"/>
                  </a:lnTo>
                  <a:cubicBezTo>
                    <a:pt x="2594045" y="771646"/>
                    <a:pt x="2576097" y="789594"/>
                    <a:pt x="2553957" y="789594"/>
                  </a:cubicBezTo>
                  <a:lnTo>
                    <a:pt x="40088" y="789594"/>
                  </a:lnTo>
                  <a:cubicBezTo>
                    <a:pt x="17948" y="789594"/>
                    <a:pt x="0" y="771646"/>
                    <a:pt x="0" y="749506"/>
                  </a:cubicBezTo>
                  <a:lnTo>
                    <a:pt x="0" y="40088"/>
                  </a:lnTo>
                  <a:cubicBezTo>
                    <a:pt x="0" y="17948"/>
                    <a:pt x="17948" y="0"/>
                    <a:pt x="40088" y="0"/>
                  </a:cubicBezTo>
                  <a:close/>
                </a:path>
              </a:pathLst>
            </a:custGeom>
            <a:ln w="38100" cap="rnd">
              <a:solidFill>
                <a:srgbClr val="474646"/>
              </a:solidFill>
              <a:prstDash val="solid"/>
              <a:round/>
            </a:ln>
          </p:spPr>
        </p:sp>
        <p:sp>
          <p:nvSpPr>
            <p:cNvPr id="15" name="TextBox 15"/>
            <p:cNvSpPr txBox="1"/>
            <p:nvPr/>
          </p:nvSpPr>
          <p:spPr>
            <a:xfrm>
              <a:off x="0" y="-38100"/>
              <a:ext cx="2594045" cy="827694"/>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4632335" y="5314817"/>
            <a:ext cx="8301976" cy="3971925"/>
          </a:xfrm>
          <a:prstGeom prst="rect">
            <a:avLst/>
          </a:prstGeom>
        </p:spPr>
        <p:txBody>
          <a:bodyPr lIns="0" tIns="0" rIns="0" bIns="0" rtlCol="0" anchor="t">
            <a:spAutoFit/>
          </a:bodyPr>
          <a:lstStyle/>
          <a:p>
            <a:pPr algn="ctr">
              <a:lnSpc>
                <a:spcPts val="6299"/>
              </a:lnSpc>
            </a:pPr>
            <a:r>
              <a:rPr lang="en-US" sz="4500">
                <a:solidFill>
                  <a:srgbClr val="000000"/>
                </a:solidFill>
                <a:latin typeface="Nunito"/>
                <a:ea typeface="Nunito"/>
                <a:cs typeface="Nunito"/>
                <a:sym typeface="Nunito"/>
              </a:rPr>
              <a:t>“Web-Based Unified Employment Platform for Decent Work Access”</a:t>
            </a:r>
          </a:p>
          <a:p>
            <a:pPr algn="ctr">
              <a:lnSpc>
                <a:spcPts val="6299"/>
              </a:lnSpc>
            </a:pPr>
            <a:endParaRPr lang="en-US" sz="4500">
              <a:solidFill>
                <a:srgbClr val="000000"/>
              </a:solidFill>
              <a:latin typeface="Nunito"/>
              <a:ea typeface="Nunito"/>
              <a:cs typeface="Nunito"/>
              <a:sym typeface="Nunito"/>
            </a:endParaRPr>
          </a:p>
          <a:p>
            <a:pPr algn="ctr">
              <a:lnSpc>
                <a:spcPts val="6299"/>
              </a:lnSpc>
            </a:pPr>
            <a:endParaRPr lang="en-US" sz="4500">
              <a:solidFill>
                <a:srgbClr val="000000"/>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5345998" y="966210"/>
            <a:ext cx="5839498" cy="729795"/>
          </a:xfrm>
          <a:prstGeom prst="rect">
            <a:avLst/>
          </a:prstGeom>
        </p:spPr>
        <p:txBody>
          <a:bodyPr lIns="0" tIns="0" rIns="0" bIns="0" rtlCol="0" anchor="t">
            <a:spAutoFit/>
          </a:bodyPr>
          <a:lstStyle/>
          <a:p>
            <a:pPr algn="ctr">
              <a:lnSpc>
                <a:spcPts val="5916"/>
              </a:lnSpc>
            </a:pPr>
            <a:r>
              <a:rPr lang="en-US" sz="4226" b="1">
                <a:solidFill>
                  <a:srgbClr val="000000"/>
                </a:solidFill>
                <a:latin typeface="Proxima Nova Bold"/>
                <a:ea typeface="Proxima Nova Bold"/>
                <a:cs typeface="Proxima Nova Bold"/>
                <a:sym typeface="Proxima Nova Bold"/>
              </a:rPr>
              <a:t>I. INTRODUCTION</a:t>
            </a:r>
          </a:p>
        </p:txBody>
      </p:sp>
      <p:sp>
        <p:nvSpPr>
          <p:cNvPr id="5" name="TextBox 5"/>
          <p:cNvSpPr txBox="1"/>
          <p:nvPr/>
        </p:nvSpPr>
        <p:spPr>
          <a:xfrm>
            <a:off x="977185" y="2030554"/>
            <a:ext cx="15253415" cy="7910830"/>
          </a:xfrm>
          <a:prstGeom prst="rect">
            <a:avLst/>
          </a:prstGeom>
        </p:spPr>
        <p:txBody>
          <a:bodyPr lIns="0" tIns="0" rIns="0" bIns="0" rtlCol="0" anchor="t">
            <a:spAutoFit/>
          </a:bodyPr>
          <a:lstStyle/>
          <a:p>
            <a:pPr algn="ctr">
              <a:lnSpc>
                <a:spcPts val="3919"/>
              </a:lnSpc>
            </a:pPr>
            <a:r>
              <a:rPr lang="en-US" sz="2799">
                <a:solidFill>
                  <a:srgbClr val="000000"/>
                </a:solidFill>
                <a:latin typeface="Nunito"/>
                <a:ea typeface="Nunito"/>
                <a:cs typeface="Nunito"/>
                <a:sym typeface="Nunito"/>
              </a:rPr>
              <a:t>Employment forms the core of a stable livelihood and economic security, and as such, employment has been affected by mobile-first and internet-based technologies that reduce the time spent on the application process for different vacancies. However, it still remains unclear whether instant access to jobs has any implication for the quality and stability of employment results. According to the Federal Capital Territory Educational Management Information System (FCT EMIS), an individual seeks employment if he/she is willing and able to work and has acquired befitting work, which translates to meaningful employment through public institutions, private entities, and self-employment options. FCT EMIS support for this argument indicates that employment forms an essential core of a livelihood and serves as an employable option for every unemployed individual seeking economic security.</a:t>
            </a:r>
          </a:p>
          <a:p>
            <a:pPr algn="ctr">
              <a:lnSpc>
                <a:spcPts val="3919"/>
              </a:lnSpc>
            </a:pPr>
            <a:r>
              <a:rPr lang="en-US" sz="2799">
                <a:solidFill>
                  <a:srgbClr val="000000"/>
                </a:solidFill>
                <a:latin typeface="Nunito"/>
                <a:ea typeface="Nunito"/>
                <a:cs typeface="Nunito"/>
                <a:sym typeface="Nunito"/>
              </a:rPr>
              <a:t>              In the Philippine scenario, however, access to befitting jobs is still limited because of inequalities in recruitment processes. Significance of this project: This project is important because it seeks to resolve inequalities in recruitment processes through the development of an employment platform through the internet, inclusive of all kinds of workers in secure and skill-based matching process.</a:t>
            </a:r>
          </a:p>
          <a:p>
            <a:pPr algn="ctr">
              <a:lnSpc>
                <a:spcPts val="3919"/>
              </a:lnSpc>
            </a:pPr>
            <a:endParaRPr lang="en-US" sz="2799">
              <a:solidFill>
                <a:srgbClr val="000000"/>
              </a:solidFill>
              <a:latin typeface="Nunito"/>
              <a:ea typeface="Nunito"/>
              <a:cs typeface="Nunito"/>
              <a:sym typeface="Nunito"/>
            </a:endParaRPr>
          </a:p>
        </p:txBody>
      </p:sp>
      <p:sp>
        <p:nvSpPr>
          <p:cNvPr id="6" name="Freeform 6"/>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12319137" y="9258300"/>
            <a:ext cx="3911463" cy="391146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3" name="Group 13"/>
          <p:cNvGrpSpPr/>
          <p:nvPr/>
        </p:nvGrpSpPr>
        <p:grpSpPr>
          <a:xfrm>
            <a:off x="2129385" y="-2859528"/>
            <a:ext cx="3911463" cy="3911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129385" y="1409320"/>
            <a:ext cx="7192199" cy="1446517"/>
          </a:xfrm>
          <a:prstGeom prst="rect">
            <a:avLst/>
          </a:prstGeom>
        </p:spPr>
        <p:txBody>
          <a:bodyPr lIns="0" tIns="0" rIns="0" bIns="0" rtlCol="0" anchor="t">
            <a:spAutoFit/>
          </a:bodyPr>
          <a:lstStyle/>
          <a:p>
            <a:pPr marL="902079" lvl="1" indent="-451040" algn="ctr">
              <a:lnSpc>
                <a:spcPts val="5849"/>
              </a:lnSpc>
              <a:buFont typeface="Arial"/>
              <a:buChar char="•"/>
            </a:pPr>
            <a:r>
              <a:rPr lang="en-US" sz="4178" b="1">
                <a:solidFill>
                  <a:srgbClr val="000000"/>
                </a:solidFill>
                <a:latin typeface="Proxima Nova Bold"/>
                <a:ea typeface="Proxima Nova Bold"/>
                <a:cs typeface="Proxima Nova Bold"/>
                <a:sym typeface="Proxima Nova Bold"/>
              </a:rPr>
              <a:t>Several Problems Found</a:t>
            </a:r>
          </a:p>
          <a:p>
            <a:pPr algn="ctr">
              <a:lnSpc>
                <a:spcPts val="5849"/>
              </a:lnSpc>
            </a:pPr>
            <a:endParaRPr lang="en-US" sz="4178" b="1">
              <a:solidFill>
                <a:srgbClr val="000000"/>
              </a:solidFill>
              <a:latin typeface="Proxima Nova Bold"/>
              <a:ea typeface="Proxima Nova Bold"/>
              <a:cs typeface="Proxima Nova Bold"/>
              <a:sym typeface="Proxima Nova Bold"/>
            </a:endParaRPr>
          </a:p>
        </p:txBody>
      </p:sp>
      <p:sp>
        <p:nvSpPr>
          <p:cNvPr id="5" name="Freeform 5"/>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2319137" y="9258300"/>
            <a:ext cx="3911463" cy="3911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2129385" y="-2859528"/>
            <a:ext cx="3911463" cy="391146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2128567" y="2267618"/>
            <a:ext cx="14386032" cy="7736623"/>
          </a:xfrm>
          <a:prstGeom prst="rect">
            <a:avLst/>
          </a:prstGeom>
        </p:spPr>
        <p:txBody>
          <a:bodyPr lIns="0" tIns="0" rIns="0" bIns="0" rtlCol="0" anchor="t">
            <a:spAutoFit/>
          </a:bodyPr>
          <a:lstStyle/>
          <a:p>
            <a:pPr algn="l">
              <a:lnSpc>
                <a:spcPts val="4721"/>
              </a:lnSpc>
            </a:pPr>
            <a:r>
              <a:rPr lang="en-US" sz="3372">
                <a:solidFill>
                  <a:srgbClr val="000000"/>
                </a:solidFill>
                <a:latin typeface="Nunito"/>
                <a:ea typeface="Nunito"/>
                <a:cs typeface="Nunito"/>
                <a:sym typeface="Nunito"/>
              </a:rPr>
              <a:t>·Unequal access to digital recruitment platforms within employment sectors.</a:t>
            </a:r>
          </a:p>
          <a:p>
            <a:pPr algn="l">
              <a:lnSpc>
                <a:spcPts val="4721"/>
              </a:lnSpc>
            </a:pPr>
            <a:r>
              <a:rPr lang="en-US" sz="3372">
                <a:solidFill>
                  <a:srgbClr val="000000"/>
                </a:solidFill>
                <a:latin typeface="Nunito"/>
                <a:ea typeface="Nunito"/>
                <a:cs typeface="Nunito"/>
                <a:sym typeface="Nunito"/>
              </a:rPr>
              <a:t>·Over-concentration of online job portals on white-collar careers</a:t>
            </a:r>
          </a:p>
          <a:p>
            <a:pPr algn="l">
              <a:lnSpc>
                <a:spcPts val="4721"/>
              </a:lnSpc>
            </a:pPr>
            <a:r>
              <a:rPr lang="en-US" sz="3372">
                <a:solidFill>
                  <a:srgbClr val="000000"/>
                </a:solidFill>
                <a:latin typeface="Nunito"/>
                <a:ea typeface="Nunito"/>
                <a:cs typeface="Nunito"/>
                <a:sym typeface="Nunito"/>
              </a:rPr>
              <a:t>·Heavy dependence of blue-collar and household workers on informal channels of recruitment</a:t>
            </a:r>
          </a:p>
          <a:p>
            <a:pPr algn="l">
              <a:lnSpc>
                <a:spcPts val="4721"/>
              </a:lnSpc>
            </a:pPr>
            <a:r>
              <a:rPr lang="en-US" sz="3372">
                <a:solidFill>
                  <a:srgbClr val="000000"/>
                </a:solidFill>
                <a:latin typeface="Nunito"/>
                <a:ea typeface="Nunito"/>
                <a:cs typeface="Nunito"/>
                <a:sym typeface="Nunito"/>
              </a:rPr>
              <a:t>·Increased exposure to job scams and fraudulent postings</a:t>
            </a:r>
          </a:p>
          <a:p>
            <a:pPr algn="l">
              <a:lnSpc>
                <a:spcPts val="4721"/>
              </a:lnSpc>
            </a:pPr>
            <a:r>
              <a:rPr lang="en-US" sz="3372">
                <a:solidFill>
                  <a:srgbClr val="000000"/>
                </a:solidFill>
                <a:latin typeface="Nunito"/>
                <a:ea typeface="Nunito"/>
                <a:cs typeface="Nunito"/>
                <a:sym typeface="Nunito"/>
              </a:rPr>
              <a:t>·Difficulty for job seekers in finding genuine opportunities that are available in their vicinity.</a:t>
            </a:r>
          </a:p>
          <a:p>
            <a:pPr algn="l">
              <a:lnSpc>
                <a:spcPts val="4721"/>
              </a:lnSpc>
            </a:pPr>
            <a:r>
              <a:rPr lang="en-US" sz="3372">
                <a:solidFill>
                  <a:srgbClr val="000000"/>
                </a:solidFill>
                <a:latin typeface="Nunito"/>
                <a:ea typeface="Nunito"/>
                <a:cs typeface="Nunito"/>
                <a:sym typeface="Nunito"/>
              </a:rPr>
              <a:t>·Challenges facing employers in searching out reliable and suitable workers efficiently.</a:t>
            </a:r>
          </a:p>
          <a:p>
            <a:pPr algn="l">
              <a:lnSpc>
                <a:spcPts val="4721"/>
              </a:lnSpc>
            </a:pPr>
            <a:r>
              <a:rPr lang="en-US" sz="3372">
                <a:solidFill>
                  <a:srgbClr val="000000"/>
                </a:solidFill>
                <a:latin typeface="Nunito"/>
                <a:ea typeface="Nunito"/>
                <a:cs typeface="Nunito"/>
                <a:sym typeface="Nunito"/>
              </a:rPr>
              <a:t>·The persistence of job insecurity among informal and service workers future.</a:t>
            </a:r>
          </a:p>
          <a:p>
            <a:pPr algn="l">
              <a:lnSpc>
                <a:spcPts val="4721"/>
              </a:lnSpc>
            </a:pPr>
            <a:endParaRPr lang="en-US" sz="3372">
              <a:solidFill>
                <a:srgbClr val="000000"/>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2327395" y="1844962"/>
            <a:ext cx="9991742" cy="655709"/>
          </a:xfrm>
          <a:prstGeom prst="rect">
            <a:avLst/>
          </a:prstGeom>
        </p:spPr>
        <p:txBody>
          <a:bodyPr lIns="0" tIns="0" rIns="0" bIns="0" rtlCol="0" anchor="t">
            <a:spAutoFit/>
          </a:bodyPr>
          <a:lstStyle/>
          <a:p>
            <a:pPr marL="822513" lvl="1" indent="-411256" algn="ctr">
              <a:lnSpc>
                <a:spcPts val="5333"/>
              </a:lnSpc>
              <a:buFont typeface="Arial"/>
              <a:buChar char="•"/>
            </a:pPr>
            <a:r>
              <a:rPr lang="en-US" sz="3809">
                <a:solidFill>
                  <a:srgbClr val="000000"/>
                </a:solidFill>
                <a:latin typeface="Open Sans"/>
                <a:ea typeface="Open Sans"/>
                <a:cs typeface="Open Sans"/>
                <a:sym typeface="Open Sans"/>
              </a:rPr>
              <a:t>Basis, Reference, or Factual Information</a:t>
            </a:r>
          </a:p>
        </p:txBody>
      </p:sp>
      <p:sp>
        <p:nvSpPr>
          <p:cNvPr id="15" name="TextBox 15"/>
          <p:cNvSpPr txBox="1"/>
          <p:nvPr/>
        </p:nvSpPr>
        <p:spPr>
          <a:xfrm>
            <a:off x="483687" y="2808212"/>
            <a:ext cx="16102079" cy="6477404"/>
          </a:xfrm>
          <a:prstGeom prst="rect">
            <a:avLst/>
          </a:prstGeom>
        </p:spPr>
        <p:txBody>
          <a:bodyPr lIns="0" tIns="0" rIns="0" bIns="0" rtlCol="0" anchor="t">
            <a:spAutoFit/>
          </a:bodyPr>
          <a:lstStyle/>
          <a:p>
            <a:pPr algn="ctr">
              <a:lnSpc>
                <a:spcPts val="4327"/>
              </a:lnSpc>
              <a:spcBef>
                <a:spcPct val="0"/>
              </a:spcBef>
            </a:pPr>
            <a:r>
              <a:rPr lang="en-US" sz="3091">
                <a:solidFill>
                  <a:srgbClr val="000000"/>
                </a:solidFill>
                <a:latin typeface="Open Sans"/>
                <a:ea typeface="Open Sans"/>
                <a:cs typeface="Open Sans"/>
                <a:sym typeface="Open Sans"/>
              </a:rPr>
              <a:t>According to the FCT EMIS model, employment is the acquisition of appropriate work in relation to employment. However, according to the Philippine Statistics Authority (PSA), unemployment and underemployment are extremely common in the Philippine context, where the economy is still heavily concentrated in the informal sector with few recruitment systems in place. It highlights the importance of employment as the cornerstone of livelihood activities and the eradication of poverty. Despite their growing popularity, online recruitment portals have primarily targeted professional employment.</a:t>
            </a:r>
          </a:p>
          <a:p>
            <a:pPr algn="ctr">
              <a:lnSpc>
                <a:spcPts val="4327"/>
              </a:lnSpc>
              <a:spcBef>
                <a:spcPct val="0"/>
              </a:spcBef>
            </a:pPr>
            <a:r>
              <a:rPr lang="en-US" sz="3091">
                <a:solidFill>
                  <a:srgbClr val="000000"/>
                </a:solidFill>
                <a:latin typeface="Open Sans"/>
                <a:ea typeface="Open Sans"/>
                <a:cs typeface="Open Sans"/>
                <a:sym typeface="Open Sans"/>
              </a:rPr>
              <a:t>Furthermore, research shows that unofficial hiring via social media and word-of-mouth exposes job searchers to fake job advertisements and scams, raising the possibility of exploitation and instability. These results support the need for a safe, organized hiring platform and the existence of a digital divide in employment access.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2955307" y="1634597"/>
            <a:ext cx="4512293" cy="580475"/>
          </a:xfrm>
          <a:prstGeom prst="rect">
            <a:avLst/>
          </a:prstGeom>
        </p:spPr>
        <p:txBody>
          <a:bodyPr wrap="square" lIns="0" tIns="0" rIns="0" bIns="0" rtlCol="0" anchor="t">
            <a:spAutoFit/>
          </a:bodyPr>
          <a:lstStyle/>
          <a:p>
            <a:pPr algn="ctr">
              <a:lnSpc>
                <a:spcPts val="4755"/>
              </a:lnSpc>
              <a:spcBef>
                <a:spcPct val="0"/>
              </a:spcBef>
            </a:pPr>
            <a:r>
              <a:rPr lang="en-US" sz="3396" b="1" dirty="0">
                <a:solidFill>
                  <a:srgbClr val="000000"/>
                </a:solidFill>
                <a:latin typeface="Open Sans Bold"/>
                <a:ea typeface="Open Sans Bold"/>
                <a:cs typeface="Open Sans Bold"/>
                <a:sym typeface="Open Sans Bold"/>
              </a:rPr>
              <a:t>Proposed Solution</a:t>
            </a:r>
          </a:p>
        </p:txBody>
      </p:sp>
      <p:sp>
        <p:nvSpPr>
          <p:cNvPr id="15" name="TextBox 15"/>
          <p:cNvSpPr txBox="1"/>
          <p:nvPr/>
        </p:nvSpPr>
        <p:spPr>
          <a:xfrm>
            <a:off x="2412490" y="2650249"/>
            <a:ext cx="12699430" cy="1036322"/>
          </a:xfrm>
          <a:prstGeom prst="rect">
            <a:avLst/>
          </a:prstGeom>
        </p:spPr>
        <p:txBody>
          <a:bodyPr lIns="0" tIns="0" rIns="0" bIns="0" rtlCol="0" anchor="t">
            <a:spAutoFit/>
          </a:bodyPr>
          <a:lstStyle/>
          <a:p>
            <a:pPr algn="ctr">
              <a:lnSpc>
                <a:spcPts val="4211"/>
              </a:lnSpc>
              <a:spcBef>
                <a:spcPct val="0"/>
              </a:spcBef>
            </a:pPr>
            <a:r>
              <a:rPr lang="en-US" sz="3008" dirty="0">
                <a:solidFill>
                  <a:srgbClr val="000000"/>
                </a:solidFill>
                <a:latin typeface="Open Sans"/>
                <a:ea typeface="Open Sans"/>
                <a:cs typeface="Open Sans"/>
                <a:sym typeface="Open Sans"/>
              </a:rPr>
              <a:t>To address these challenges, the project proposes the development of a comprehensive web-based employment platform that will:</a:t>
            </a:r>
          </a:p>
        </p:txBody>
      </p:sp>
      <p:sp>
        <p:nvSpPr>
          <p:cNvPr id="16" name="TextBox 16"/>
          <p:cNvSpPr txBox="1"/>
          <p:nvPr/>
        </p:nvSpPr>
        <p:spPr>
          <a:xfrm>
            <a:off x="1717474" y="4234677"/>
            <a:ext cx="13556205" cy="3734356"/>
          </a:xfrm>
          <a:prstGeom prst="rect">
            <a:avLst/>
          </a:prstGeom>
        </p:spPr>
        <p:txBody>
          <a:bodyPr wrap="square" lIns="0" tIns="0" rIns="0" bIns="0" rtlCol="0" anchor="t">
            <a:spAutoFit/>
          </a:bodyPr>
          <a:lstStyle/>
          <a:p>
            <a:pPr marL="644290" lvl="1" indent="-322145" algn="ctr">
              <a:lnSpc>
                <a:spcPts val="4177"/>
              </a:lnSpc>
              <a:buFont typeface="Arial"/>
              <a:buChar char="•"/>
            </a:pPr>
            <a:r>
              <a:rPr lang="en-US" sz="2984" dirty="0">
                <a:solidFill>
                  <a:srgbClr val="000000"/>
                </a:solidFill>
                <a:latin typeface="Open Sans"/>
                <a:ea typeface="Open Sans"/>
                <a:cs typeface="Open Sans"/>
                <a:sym typeface="Open Sans"/>
              </a:rPr>
              <a:t>Centralize job listings across white-collar, blue-collar, and household/service sectors</a:t>
            </a:r>
          </a:p>
          <a:p>
            <a:pPr marL="644290" lvl="1" indent="-322145" algn="ctr">
              <a:lnSpc>
                <a:spcPts val="4177"/>
              </a:lnSpc>
              <a:buFont typeface="Arial"/>
              <a:buChar char="•"/>
            </a:pPr>
            <a:r>
              <a:rPr lang="en-US" sz="2984" dirty="0">
                <a:solidFill>
                  <a:srgbClr val="000000"/>
                </a:solidFill>
                <a:latin typeface="Open Sans"/>
                <a:ea typeface="Open Sans"/>
                <a:cs typeface="Open Sans"/>
                <a:sym typeface="Open Sans"/>
              </a:rPr>
              <a:t>Allow job seekers to search and apply for jobs based on specific skills and location</a:t>
            </a:r>
          </a:p>
          <a:p>
            <a:pPr marL="644290" lvl="1" indent="-322145" algn="ctr">
              <a:lnSpc>
                <a:spcPts val="4177"/>
              </a:lnSpc>
              <a:buFont typeface="Arial"/>
              <a:buChar char="•"/>
            </a:pPr>
            <a:r>
              <a:rPr lang="en-US" sz="2984" dirty="0">
                <a:solidFill>
                  <a:srgbClr val="000000"/>
                </a:solidFill>
                <a:latin typeface="Open Sans"/>
                <a:ea typeface="Open Sans"/>
                <a:cs typeface="Open Sans"/>
                <a:sym typeface="Open Sans"/>
              </a:rPr>
              <a:t>Provide employers with an organized and efficient recruitment system</a:t>
            </a:r>
          </a:p>
          <a:p>
            <a:pPr marL="644290" lvl="1" indent="-322145" algn="ctr">
              <a:lnSpc>
                <a:spcPts val="4177"/>
              </a:lnSpc>
              <a:buFont typeface="Arial"/>
              <a:buChar char="•"/>
            </a:pPr>
            <a:r>
              <a:rPr lang="en-US" sz="2984" dirty="0">
                <a:solidFill>
                  <a:srgbClr val="000000"/>
                </a:solidFill>
                <a:latin typeface="Open Sans"/>
                <a:ea typeface="Open Sans"/>
                <a:cs typeface="Open Sans"/>
                <a:sym typeface="Open Sans"/>
              </a:rPr>
              <a:t>Integrate safety guidelines and scam awareness modules</a:t>
            </a:r>
          </a:p>
          <a:p>
            <a:pPr marL="644290" lvl="1" indent="-322145" algn="ctr">
              <a:lnSpc>
                <a:spcPts val="4177"/>
              </a:lnSpc>
              <a:buFont typeface="Arial"/>
              <a:buChar char="•"/>
            </a:pPr>
            <a:r>
              <a:rPr lang="en-US" sz="2984" dirty="0">
                <a:solidFill>
                  <a:srgbClr val="000000"/>
                </a:solidFill>
                <a:latin typeface="Open Sans"/>
                <a:ea typeface="Open Sans"/>
                <a:cs typeface="Open Sans"/>
                <a:sym typeface="Open Sans"/>
              </a:rPr>
              <a:t>Promote transparency, worker protection, and employment security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2057400" y="1499127"/>
            <a:ext cx="6963748" cy="671935"/>
          </a:xfrm>
          <a:prstGeom prst="rect">
            <a:avLst/>
          </a:prstGeom>
        </p:spPr>
        <p:txBody>
          <a:bodyPr lIns="0" tIns="0" rIns="0" bIns="0" rtlCol="0" anchor="t">
            <a:spAutoFit/>
          </a:bodyPr>
          <a:lstStyle/>
          <a:p>
            <a:pPr marL="846513" lvl="1" indent="-423257" algn="ctr">
              <a:lnSpc>
                <a:spcPts val="5489"/>
              </a:lnSpc>
              <a:buFont typeface="Arial"/>
              <a:buChar char="•"/>
            </a:pPr>
            <a:r>
              <a:rPr lang="en-US" sz="3920" b="1">
                <a:solidFill>
                  <a:srgbClr val="000000"/>
                </a:solidFill>
                <a:latin typeface="Open Sans Bold"/>
                <a:ea typeface="Open Sans Bold"/>
                <a:cs typeface="Open Sans Bold"/>
                <a:sym typeface="Open Sans Bold"/>
              </a:rPr>
              <a:t>Objective of the Project</a:t>
            </a:r>
          </a:p>
        </p:txBody>
      </p:sp>
      <p:sp>
        <p:nvSpPr>
          <p:cNvPr id="15" name="TextBox 15"/>
          <p:cNvSpPr txBox="1"/>
          <p:nvPr/>
        </p:nvSpPr>
        <p:spPr>
          <a:xfrm>
            <a:off x="2057400" y="2876039"/>
            <a:ext cx="3597107" cy="519610"/>
          </a:xfrm>
          <a:prstGeom prst="rect">
            <a:avLst/>
          </a:prstGeom>
        </p:spPr>
        <p:txBody>
          <a:bodyPr lIns="0" tIns="0" rIns="0" bIns="0" rtlCol="0" anchor="t">
            <a:spAutoFit/>
          </a:bodyPr>
          <a:lstStyle/>
          <a:p>
            <a:pPr algn="ctr">
              <a:lnSpc>
                <a:spcPts val="4303"/>
              </a:lnSpc>
              <a:spcBef>
                <a:spcPct val="0"/>
              </a:spcBef>
            </a:pPr>
            <a:r>
              <a:rPr lang="en-US" sz="3073">
                <a:solidFill>
                  <a:srgbClr val="000000"/>
                </a:solidFill>
                <a:latin typeface="Open Sans"/>
                <a:ea typeface="Open Sans"/>
                <a:cs typeface="Open Sans"/>
                <a:sym typeface="Open Sans"/>
              </a:rPr>
              <a:t>The project aims to:</a:t>
            </a:r>
          </a:p>
        </p:txBody>
      </p:sp>
      <p:sp>
        <p:nvSpPr>
          <p:cNvPr id="16" name="TextBox 16"/>
          <p:cNvSpPr txBox="1"/>
          <p:nvPr/>
        </p:nvSpPr>
        <p:spPr>
          <a:xfrm>
            <a:off x="1702233" y="3652634"/>
            <a:ext cx="12100970" cy="4076469"/>
          </a:xfrm>
          <a:prstGeom prst="rect">
            <a:avLst/>
          </a:prstGeom>
        </p:spPr>
        <p:txBody>
          <a:bodyPr lIns="0" tIns="0" rIns="0" bIns="0" rtlCol="0" anchor="t">
            <a:spAutoFit/>
          </a:bodyPr>
          <a:lstStyle/>
          <a:p>
            <a:pPr marL="629163" lvl="1" indent="-314581" algn="l">
              <a:lnSpc>
                <a:spcPts val="4079"/>
              </a:lnSpc>
              <a:buAutoNum type="arabicPeriod"/>
            </a:pPr>
            <a:r>
              <a:rPr lang="en-US" sz="2914">
                <a:solidFill>
                  <a:srgbClr val="000000"/>
                </a:solidFill>
                <a:latin typeface="Open Sans"/>
                <a:ea typeface="Open Sans"/>
                <a:cs typeface="Open Sans"/>
                <a:sym typeface="Open Sans"/>
              </a:rPr>
              <a:t>Develop an accessible and user-friendly job-matching platform.</a:t>
            </a:r>
          </a:p>
          <a:p>
            <a:pPr marL="629163" lvl="1" indent="-314581" algn="l">
              <a:lnSpc>
                <a:spcPts val="4079"/>
              </a:lnSpc>
              <a:buAutoNum type="arabicPeriod"/>
            </a:pPr>
            <a:r>
              <a:rPr lang="en-US" sz="2914">
                <a:solidFill>
                  <a:srgbClr val="000000"/>
                </a:solidFill>
                <a:latin typeface="Open Sans"/>
                <a:ea typeface="Open Sans"/>
                <a:cs typeface="Open Sans"/>
                <a:sym typeface="Open Sans"/>
              </a:rPr>
              <a:t>Provide inclusive employment opportunities for all worker categories.</a:t>
            </a:r>
          </a:p>
          <a:p>
            <a:pPr marL="629163" lvl="1" indent="-314581" algn="l">
              <a:lnSpc>
                <a:spcPts val="4079"/>
              </a:lnSpc>
              <a:buAutoNum type="arabicPeriod"/>
            </a:pPr>
            <a:r>
              <a:rPr lang="en-US" sz="2914">
                <a:solidFill>
                  <a:srgbClr val="000000"/>
                </a:solidFill>
                <a:latin typeface="Open Sans"/>
                <a:ea typeface="Open Sans"/>
                <a:cs typeface="Open Sans"/>
                <a:sym typeface="Open Sans"/>
              </a:rPr>
              <a:t>Improve job-search efficiency through skill-based and location-based matching.</a:t>
            </a:r>
          </a:p>
          <a:p>
            <a:pPr marL="629163" lvl="1" indent="-314581" algn="l">
              <a:lnSpc>
                <a:spcPts val="4079"/>
              </a:lnSpc>
              <a:buAutoNum type="arabicPeriod"/>
            </a:pPr>
            <a:r>
              <a:rPr lang="en-US" sz="2914">
                <a:solidFill>
                  <a:srgbClr val="000000"/>
                </a:solidFill>
                <a:latin typeface="Open Sans"/>
                <a:ea typeface="Open Sans"/>
                <a:cs typeface="Open Sans"/>
                <a:sym typeface="Open Sans"/>
              </a:rPr>
              <a:t>Reduce exposure to job scams and fraudulent recruitment practices.</a:t>
            </a:r>
          </a:p>
          <a:p>
            <a:pPr marL="629163" lvl="1" indent="-314581" algn="l">
              <a:lnSpc>
                <a:spcPts val="4079"/>
              </a:lnSpc>
              <a:buAutoNum type="arabicPeriod"/>
            </a:pPr>
            <a:r>
              <a:rPr lang="en-US" sz="2914">
                <a:solidFill>
                  <a:srgbClr val="000000"/>
                </a:solidFill>
                <a:latin typeface="Open Sans"/>
                <a:ea typeface="Open Sans"/>
                <a:cs typeface="Open Sans"/>
                <a:sym typeface="Open Sans"/>
              </a:rPr>
              <a:t>Support economic stability by facilitating access to befitting 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70581"/>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15414"/>
            <a:ext cx="3404467" cy="3404467"/>
          </a:xfrm>
          <a:custGeom>
            <a:avLst/>
            <a:gdLst/>
            <a:ahLst/>
            <a:cxnLst/>
            <a:rect l="l" t="t" r="r" b="b"/>
            <a:pathLst>
              <a:path w="3404467" h="3404467">
                <a:moveTo>
                  <a:pt x="0" y="0"/>
                </a:moveTo>
                <a:lnTo>
                  <a:pt x="3404466" y="0"/>
                </a:lnTo>
                <a:lnTo>
                  <a:pt x="3404466" y="3404467"/>
                </a:lnTo>
                <a:lnTo>
                  <a:pt x="0" y="3404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0600" y="718928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585767" y="7544449"/>
            <a:ext cx="3404467" cy="3404467"/>
          </a:xfrm>
          <a:custGeom>
            <a:avLst/>
            <a:gdLst/>
            <a:ahLst/>
            <a:cxnLst/>
            <a:rect l="l" t="t" r="r" b="b"/>
            <a:pathLst>
              <a:path w="3404467" h="3404467">
                <a:moveTo>
                  <a:pt x="0" y="0"/>
                </a:moveTo>
                <a:lnTo>
                  <a:pt x="3404466" y="0"/>
                </a:lnTo>
                <a:lnTo>
                  <a:pt x="3404466" y="3404467"/>
                </a:lnTo>
                <a:lnTo>
                  <a:pt x="0" y="3404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2319137" y="9246682"/>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57416"/>
            <a:ext cx="2578533" cy="2578533"/>
          </a:xfrm>
          <a:custGeom>
            <a:avLst/>
            <a:gdLst/>
            <a:ahLst/>
            <a:cxnLst/>
            <a:rect l="l" t="t" r="r" b="b"/>
            <a:pathLst>
              <a:path w="2578533" h="2578533">
                <a:moveTo>
                  <a:pt x="0" y="0"/>
                </a:moveTo>
                <a:lnTo>
                  <a:pt x="2578534" y="0"/>
                </a:lnTo>
                <a:lnTo>
                  <a:pt x="2578534" y="2578533"/>
                </a:lnTo>
                <a:lnTo>
                  <a:pt x="0" y="25785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289267" y="-502447"/>
            <a:ext cx="2578533" cy="2578533"/>
          </a:xfrm>
          <a:custGeom>
            <a:avLst/>
            <a:gdLst/>
            <a:ahLst/>
            <a:cxnLst/>
            <a:rect l="l" t="t" r="r" b="b"/>
            <a:pathLst>
              <a:path w="2578533" h="2578533">
                <a:moveTo>
                  <a:pt x="0" y="0"/>
                </a:moveTo>
                <a:lnTo>
                  <a:pt x="2578534" y="0"/>
                </a:lnTo>
                <a:lnTo>
                  <a:pt x="2578534" y="2578533"/>
                </a:lnTo>
                <a:lnTo>
                  <a:pt x="0" y="25785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2129385" y="-2871145"/>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981200" y="1580785"/>
            <a:ext cx="3216593" cy="495301"/>
          </a:xfrm>
          <a:prstGeom prst="rect">
            <a:avLst/>
          </a:prstGeom>
        </p:spPr>
        <p:txBody>
          <a:bodyPr lIns="0" tIns="0" rIns="0" bIns="0" rtlCol="0" anchor="t">
            <a:spAutoFit/>
          </a:bodyPr>
          <a:lstStyle/>
          <a:p>
            <a:pPr algn="ctr">
              <a:lnSpc>
                <a:spcPts val="4199"/>
              </a:lnSpc>
              <a:spcBef>
                <a:spcPct val="0"/>
              </a:spcBef>
            </a:pPr>
            <a:r>
              <a:rPr lang="en-US" sz="2999" b="1" dirty="0">
                <a:solidFill>
                  <a:srgbClr val="000000"/>
                </a:solidFill>
                <a:latin typeface="Open Sans Bold"/>
                <a:ea typeface="Open Sans Bold"/>
                <a:cs typeface="Open Sans Bold"/>
                <a:sym typeface="Open Sans Bold"/>
              </a:rPr>
              <a:t>Project Planning </a:t>
            </a:r>
          </a:p>
        </p:txBody>
      </p:sp>
      <p:grpSp>
        <p:nvGrpSpPr>
          <p:cNvPr id="15" name="Group 15"/>
          <p:cNvGrpSpPr/>
          <p:nvPr/>
        </p:nvGrpSpPr>
        <p:grpSpPr>
          <a:xfrm>
            <a:off x="801871" y="2396068"/>
            <a:ext cx="14389773" cy="6071839"/>
            <a:chOff x="0" y="0"/>
            <a:chExt cx="19186364" cy="8095786"/>
          </a:xfrm>
        </p:grpSpPr>
        <p:sp>
          <p:nvSpPr>
            <p:cNvPr id="16" name="TextBox 16"/>
            <p:cNvSpPr txBox="1"/>
            <p:nvPr/>
          </p:nvSpPr>
          <p:spPr>
            <a:xfrm>
              <a:off x="1770018" y="-57150"/>
              <a:ext cx="13071187" cy="2603924"/>
            </a:xfrm>
            <a:prstGeom prst="rect">
              <a:avLst/>
            </a:prstGeom>
          </p:spPr>
          <p:txBody>
            <a:bodyPr lIns="0" tIns="0" rIns="0" bIns="0" rtlCol="0" anchor="t">
              <a:spAutoFit/>
            </a:bodyPr>
            <a:lstStyle/>
            <a:p>
              <a:pPr algn="l">
                <a:lnSpc>
                  <a:spcPts val="3919"/>
                </a:lnSpc>
              </a:pPr>
              <a:r>
                <a:rPr lang="en-US" sz="2799" b="1">
                  <a:solidFill>
                    <a:srgbClr val="000000"/>
                  </a:solidFill>
                  <a:latin typeface="Open Sans Bold"/>
                  <a:ea typeface="Open Sans Bold"/>
                  <a:cs typeface="Open Sans Bold"/>
                  <a:sym typeface="Open Sans Bold"/>
                </a:rPr>
                <a:t>1. Selected Sustainable Development Goals (SDG) Area</a:t>
              </a:r>
            </a:p>
            <a:p>
              <a:pPr algn="l">
                <a:lnSpc>
                  <a:spcPts val="3919"/>
                </a:lnSpc>
              </a:pPr>
              <a:r>
                <a:rPr lang="en-US" sz="2799">
                  <a:solidFill>
                    <a:srgbClr val="000000"/>
                  </a:solidFill>
                  <a:latin typeface="Open Sans"/>
                  <a:ea typeface="Open Sans"/>
                  <a:cs typeface="Open Sans"/>
                  <a:sym typeface="Open Sans"/>
                </a:rPr>
                <a:t>· SDG 8: Decent Work and Economic Growth</a:t>
              </a:r>
            </a:p>
            <a:p>
              <a:pPr algn="l">
                <a:lnSpc>
                  <a:spcPts val="3919"/>
                </a:lnSpc>
              </a:pPr>
              <a:r>
                <a:rPr lang="en-US" sz="2799">
                  <a:solidFill>
                    <a:srgbClr val="000000"/>
                  </a:solidFill>
                  <a:latin typeface="Open Sans"/>
                  <a:ea typeface="Open Sans"/>
                  <a:cs typeface="Open Sans"/>
                  <a:sym typeface="Open Sans"/>
                </a:rPr>
                <a:t>· SDG 1: No Poverty</a:t>
              </a:r>
            </a:p>
            <a:p>
              <a:pPr algn="l">
                <a:lnSpc>
                  <a:spcPts val="3919"/>
                </a:lnSpc>
              </a:pPr>
              <a:r>
                <a:rPr lang="en-US" sz="2799">
                  <a:solidFill>
                    <a:srgbClr val="000000"/>
                  </a:solidFill>
                  <a:latin typeface="Open Sans"/>
                  <a:ea typeface="Open Sans"/>
                  <a:cs typeface="Open Sans"/>
                  <a:sym typeface="Open Sans"/>
                </a:rPr>
                <a:t>· SDG 10: Reduced Inequalities</a:t>
              </a:r>
            </a:p>
          </p:txBody>
        </p:sp>
        <p:sp>
          <p:nvSpPr>
            <p:cNvPr id="17" name="TextBox 17"/>
            <p:cNvSpPr txBox="1"/>
            <p:nvPr/>
          </p:nvSpPr>
          <p:spPr>
            <a:xfrm>
              <a:off x="1770018" y="3279310"/>
              <a:ext cx="17416346" cy="4816475"/>
            </a:xfrm>
            <a:prstGeom prst="rect">
              <a:avLst/>
            </a:prstGeom>
          </p:spPr>
          <p:txBody>
            <a:bodyPr lIns="0" tIns="0" rIns="0" bIns="0" rtlCol="0" anchor="t">
              <a:spAutoFit/>
            </a:bodyPr>
            <a:lstStyle/>
            <a:p>
              <a:pPr algn="ctr">
                <a:lnSpc>
                  <a:spcPts val="2520"/>
                </a:lnSpc>
              </a:pPr>
              <a:endParaRPr/>
            </a:p>
            <a:p>
              <a:pPr algn="l">
                <a:lnSpc>
                  <a:spcPts val="3779"/>
                </a:lnSpc>
              </a:pPr>
              <a:r>
                <a:rPr lang="en-US" sz="2699">
                  <a:solidFill>
                    <a:srgbClr val="000000"/>
                  </a:solidFill>
                  <a:latin typeface="Open Sans"/>
                  <a:ea typeface="Open Sans"/>
                  <a:cs typeface="Open Sans"/>
                  <a:sym typeface="Open Sans"/>
                </a:rPr>
                <a:t>SDG 8 directly aligns with the project’s goal of providing access to decent and secure employment. The concept of befitting work defined by FCT EMIS reflects the principles of productive and sustainable employment promoted by this SDG. SDG 10 is addressed by reducing inequalities in access to digital recruitment platforms, particularly for blue-collar and household workers. SDG 1 is supported by improving employment access, which is a key mechanism for poverty reduction and livelihood stability.</a:t>
              </a:r>
            </a:p>
          </p:txBody>
        </p:sp>
        <p:sp>
          <p:nvSpPr>
            <p:cNvPr id="18" name="TextBox 18"/>
            <p:cNvSpPr txBox="1"/>
            <p:nvPr/>
          </p:nvSpPr>
          <p:spPr>
            <a:xfrm>
              <a:off x="0" y="2967948"/>
              <a:ext cx="12029758" cy="622724"/>
            </a:xfrm>
            <a:prstGeom prst="rect">
              <a:avLst/>
            </a:prstGeom>
          </p:spPr>
          <p:txBody>
            <a:bodyPr lIns="0" tIns="0" rIns="0" bIns="0" rtlCol="0" anchor="t">
              <a:spAutoFit/>
            </a:bodyPr>
            <a:lstStyle/>
            <a:p>
              <a:pPr algn="ctr">
                <a:lnSpc>
                  <a:spcPts val="3919"/>
                </a:lnSpc>
              </a:pPr>
              <a:r>
                <a:rPr lang="en-US" sz="2799">
                  <a:solidFill>
                    <a:srgbClr val="000000"/>
                  </a:solidFill>
                  <a:latin typeface="Open Sans"/>
                  <a:ea typeface="Open Sans"/>
                  <a:cs typeface="Open Sans"/>
                  <a:sym typeface="Open Sans"/>
                </a:rPr>
                <a:t> 2.</a:t>
              </a:r>
              <a:r>
                <a:rPr lang="en-US" sz="2799" b="1">
                  <a:solidFill>
                    <a:srgbClr val="000000"/>
                  </a:solidFill>
                  <a:latin typeface="Open Sans Bold"/>
                  <a:ea typeface="Open Sans Bold"/>
                  <a:cs typeface="Open Sans Bold"/>
                  <a:sym typeface="Open Sans Bold"/>
                </a:rPr>
                <a:t> Discussion on Why SDG Was Selected</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2243435" y="1079854"/>
            <a:ext cx="14342332" cy="490327"/>
          </a:xfrm>
          <a:prstGeom prst="rect">
            <a:avLst/>
          </a:prstGeom>
        </p:spPr>
        <p:txBody>
          <a:bodyPr wrap="square" lIns="0" tIns="0" rIns="0" bIns="0" rtlCol="0" anchor="t">
            <a:spAutoFit/>
          </a:bodyPr>
          <a:lstStyle/>
          <a:p>
            <a:pPr marL="313052" lvl="1" algn="ctr">
              <a:lnSpc>
                <a:spcPts val="4059"/>
              </a:lnSpc>
              <a:spcBef>
                <a:spcPct val="0"/>
              </a:spcBef>
            </a:pPr>
            <a:r>
              <a:rPr lang="en-US" sz="2899" b="1" dirty="0">
                <a:solidFill>
                  <a:srgbClr val="000000"/>
                </a:solidFill>
                <a:latin typeface="Open Sans Bold"/>
                <a:ea typeface="Open Sans Bold"/>
                <a:cs typeface="Open Sans Bold"/>
                <a:sym typeface="Open Sans Bold"/>
              </a:rPr>
              <a:t>3. Proposed List of Data or Information That Will Be Placed on the Website</a:t>
            </a:r>
          </a:p>
        </p:txBody>
      </p:sp>
      <p:sp>
        <p:nvSpPr>
          <p:cNvPr id="15" name="TextBox 15"/>
          <p:cNvSpPr txBox="1"/>
          <p:nvPr/>
        </p:nvSpPr>
        <p:spPr>
          <a:xfrm>
            <a:off x="2888865" y="1710865"/>
            <a:ext cx="8188404" cy="2957831"/>
          </a:xfrm>
          <a:prstGeom prst="rect">
            <a:avLst/>
          </a:prstGeom>
        </p:spPr>
        <p:txBody>
          <a:bodyPr lIns="0" tIns="0" rIns="0" bIns="0" rtlCol="0" anchor="t">
            <a:spAutoFit/>
          </a:bodyPr>
          <a:lstStyle/>
          <a:p>
            <a:pPr marL="604515" lvl="1" indent="-302257" algn="l">
              <a:lnSpc>
                <a:spcPts val="3919"/>
              </a:lnSpc>
              <a:buFont typeface="Arial"/>
              <a:buChar char="•"/>
            </a:pPr>
            <a:r>
              <a:rPr lang="en-US" sz="2799" dirty="0">
                <a:solidFill>
                  <a:srgbClr val="000000"/>
                </a:solidFill>
                <a:latin typeface="Open Sans"/>
                <a:ea typeface="Open Sans"/>
                <a:cs typeface="Open Sans"/>
                <a:sym typeface="Open Sans"/>
              </a:rPr>
              <a:t>Job listings categorized by employment sector</a:t>
            </a:r>
          </a:p>
          <a:p>
            <a:pPr marL="604515" lvl="1" indent="-302257" algn="l">
              <a:lnSpc>
                <a:spcPts val="3919"/>
              </a:lnSpc>
              <a:buFont typeface="Arial"/>
              <a:buChar char="•"/>
            </a:pPr>
            <a:r>
              <a:rPr lang="en-US" sz="2799" dirty="0">
                <a:solidFill>
                  <a:srgbClr val="000000"/>
                </a:solidFill>
                <a:latin typeface="Open Sans"/>
                <a:ea typeface="Open Sans"/>
                <a:cs typeface="Open Sans"/>
                <a:sym typeface="Open Sans"/>
              </a:rPr>
              <a:t>Job descriptions and required skills</a:t>
            </a:r>
          </a:p>
          <a:p>
            <a:pPr marL="604515" lvl="1" indent="-302257" algn="l">
              <a:lnSpc>
                <a:spcPts val="3919"/>
              </a:lnSpc>
              <a:buFont typeface="Arial"/>
              <a:buChar char="•"/>
            </a:pPr>
            <a:r>
              <a:rPr lang="en-US" sz="2799" dirty="0">
                <a:solidFill>
                  <a:srgbClr val="000000"/>
                </a:solidFill>
                <a:latin typeface="Open Sans"/>
                <a:ea typeface="Open Sans"/>
                <a:cs typeface="Open Sans"/>
                <a:sym typeface="Open Sans"/>
              </a:rPr>
              <a:t>Employer profiles and verification status</a:t>
            </a:r>
          </a:p>
          <a:p>
            <a:pPr marL="604515" lvl="1" indent="-302257" algn="l">
              <a:lnSpc>
                <a:spcPts val="3919"/>
              </a:lnSpc>
              <a:buFont typeface="Arial"/>
              <a:buChar char="•"/>
            </a:pPr>
            <a:r>
              <a:rPr lang="en-US" sz="2799" dirty="0">
                <a:solidFill>
                  <a:srgbClr val="000000"/>
                </a:solidFill>
                <a:latin typeface="Open Sans"/>
                <a:ea typeface="Open Sans"/>
                <a:cs typeface="Open Sans"/>
                <a:sym typeface="Open Sans"/>
              </a:rPr>
              <a:t>Job seeker profiles and skill information</a:t>
            </a:r>
          </a:p>
          <a:p>
            <a:pPr marL="604515" lvl="1" indent="-302257" algn="l">
              <a:lnSpc>
                <a:spcPts val="3919"/>
              </a:lnSpc>
              <a:buFont typeface="Arial"/>
              <a:buChar char="•"/>
            </a:pPr>
            <a:r>
              <a:rPr lang="en-US" sz="2799" dirty="0">
                <a:solidFill>
                  <a:srgbClr val="000000"/>
                </a:solidFill>
                <a:latin typeface="Open Sans"/>
                <a:ea typeface="Open Sans"/>
                <a:cs typeface="Open Sans"/>
                <a:sym typeface="Open Sans"/>
              </a:rPr>
              <a:t>Job application records and application status</a:t>
            </a:r>
          </a:p>
          <a:p>
            <a:pPr marL="604515" lvl="1" indent="-302257" algn="l">
              <a:lnSpc>
                <a:spcPts val="3919"/>
              </a:lnSpc>
              <a:buFont typeface="Arial"/>
              <a:buChar char="•"/>
            </a:pPr>
            <a:r>
              <a:rPr lang="en-US" sz="2799" dirty="0">
                <a:solidFill>
                  <a:srgbClr val="000000"/>
                </a:solidFill>
                <a:latin typeface="Open Sans"/>
                <a:ea typeface="Open Sans"/>
                <a:cs typeface="Open Sans"/>
                <a:sym typeface="Open Sans"/>
              </a:rPr>
              <a:t>Location-based job opportunities</a:t>
            </a:r>
          </a:p>
        </p:txBody>
      </p:sp>
      <p:sp>
        <p:nvSpPr>
          <p:cNvPr id="16" name="TextBox 16"/>
          <p:cNvSpPr txBox="1"/>
          <p:nvPr/>
        </p:nvSpPr>
        <p:spPr>
          <a:xfrm>
            <a:off x="2888865" y="4611545"/>
            <a:ext cx="9011484" cy="976631"/>
          </a:xfrm>
          <a:prstGeom prst="rect">
            <a:avLst/>
          </a:prstGeom>
        </p:spPr>
        <p:txBody>
          <a:bodyPr lIns="0" tIns="0" rIns="0" bIns="0" rtlCol="0" anchor="t">
            <a:spAutoFit/>
          </a:bodyPr>
          <a:lstStyle/>
          <a:p>
            <a:pPr marL="604515" lvl="1" indent="-302257" algn="l">
              <a:lnSpc>
                <a:spcPts val="3919"/>
              </a:lnSpc>
              <a:buFont typeface="Arial"/>
              <a:buChar char="•"/>
            </a:pPr>
            <a:r>
              <a:rPr lang="en-US" sz="2799">
                <a:solidFill>
                  <a:srgbClr val="000000"/>
                </a:solidFill>
                <a:latin typeface="Open Sans"/>
                <a:ea typeface="Open Sans"/>
                <a:cs typeface="Open Sans"/>
                <a:sym typeface="Open Sans"/>
              </a:rPr>
              <a:t>Safety guidelines and scam awareness information</a:t>
            </a:r>
          </a:p>
          <a:p>
            <a:pPr marL="604515" lvl="1" indent="-302257" algn="l">
              <a:lnSpc>
                <a:spcPts val="3919"/>
              </a:lnSpc>
              <a:buFont typeface="Arial"/>
              <a:buChar char="•"/>
            </a:pPr>
            <a:r>
              <a:rPr lang="en-US" sz="2799">
                <a:solidFill>
                  <a:srgbClr val="000000"/>
                </a:solidFill>
                <a:latin typeface="Open Sans"/>
                <a:ea typeface="Open Sans"/>
                <a:cs typeface="Open Sans"/>
                <a:sym typeface="Open Sans"/>
              </a:rPr>
              <a:t>Employment and livelihood guidance materials</a:t>
            </a:r>
          </a:p>
        </p:txBody>
      </p:sp>
      <p:sp>
        <p:nvSpPr>
          <p:cNvPr id="17" name="TextBox 17"/>
          <p:cNvSpPr txBox="1"/>
          <p:nvPr/>
        </p:nvSpPr>
        <p:spPr>
          <a:xfrm>
            <a:off x="2706930" y="5718807"/>
            <a:ext cx="8164473" cy="481331"/>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Open Sans Bold"/>
                <a:ea typeface="Open Sans Bold"/>
                <a:cs typeface="Open Sans Bold"/>
                <a:sym typeface="Open Sans Bold"/>
              </a:rPr>
              <a:t>4. What Template Should Be Chosen and Why?</a:t>
            </a:r>
          </a:p>
        </p:txBody>
      </p:sp>
      <p:sp>
        <p:nvSpPr>
          <p:cNvPr id="18" name="TextBox 18"/>
          <p:cNvSpPr txBox="1"/>
          <p:nvPr/>
        </p:nvSpPr>
        <p:spPr>
          <a:xfrm>
            <a:off x="2706930" y="6219188"/>
            <a:ext cx="11832193" cy="481331"/>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Open Sans"/>
                <a:ea typeface="Open Sans"/>
                <a:cs typeface="Open Sans"/>
                <a:sym typeface="Open Sans"/>
              </a:rPr>
              <a:t>A Bootstrap-based responsive website template will be used because it:</a:t>
            </a:r>
          </a:p>
        </p:txBody>
      </p:sp>
      <p:sp>
        <p:nvSpPr>
          <p:cNvPr id="19" name="TextBox 19"/>
          <p:cNvSpPr txBox="1"/>
          <p:nvPr/>
        </p:nvSpPr>
        <p:spPr>
          <a:xfrm>
            <a:off x="2888865" y="6833869"/>
            <a:ext cx="10700385" cy="1967231"/>
          </a:xfrm>
          <a:prstGeom prst="rect">
            <a:avLst/>
          </a:prstGeom>
        </p:spPr>
        <p:txBody>
          <a:bodyPr lIns="0" tIns="0" rIns="0" bIns="0" rtlCol="0" anchor="t">
            <a:spAutoFit/>
          </a:bodyPr>
          <a:lstStyle/>
          <a:p>
            <a:pPr marL="604515" lvl="1" indent="-302257" algn="l">
              <a:lnSpc>
                <a:spcPts val="3919"/>
              </a:lnSpc>
              <a:buFont typeface="Arial"/>
              <a:buChar char="•"/>
            </a:pPr>
            <a:r>
              <a:rPr lang="en-US" sz="2799">
                <a:solidFill>
                  <a:srgbClr val="000000"/>
                </a:solidFill>
                <a:latin typeface="Open Sans"/>
                <a:ea typeface="Open Sans"/>
                <a:cs typeface="Open Sans"/>
                <a:sym typeface="Open Sans"/>
              </a:rPr>
              <a:t>Ensures accessibility across desktop and mobile devices</a:t>
            </a:r>
          </a:p>
          <a:p>
            <a:pPr marL="604515" lvl="1" indent="-302257" algn="l">
              <a:lnSpc>
                <a:spcPts val="3919"/>
              </a:lnSpc>
              <a:buFont typeface="Arial"/>
              <a:buChar char="•"/>
            </a:pPr>
            <a:r>
              <a:rPr lang="en-US" sz="2799">
                <a:solidFill>
                  <a:srgbClr val="000000"/>
                </a:solidFill>
                <a:latin typeface="Open Sans"/>
                <a:ea typeface="Open Sans"/>
                <a:cs typeface="Open Sans"/>
                <a:sym typeface="Open Sans"/>
              </a:rPr>
              <a:t>Provides a clean and organized layout</a:t>
            </a:r>
          </a:p>
          <a:p>
            <a:pPr marL="604515" lvl="1" indent="-302257" algn="l">
              <a:lnSpc>
                <a:spcPts val="3919"/>
              </a:lnSpc>
              <a:buFont typeface="Arial"/>
              <a:buChar char="•"/>
            </a:pPr>
            <a:r>
              <a:rPr lang="en-US" sz="2799">
                <a:solidFill>
                  <a:srgbClr val="000000"/>
                </a:solidFill>
                <a:latin typeface="Open Sans"/>
                <a:ea typeface="Open Sans"/>
                <a:cs typeface="Open Sans"/>
                <a:sym typeface="Open Sans"/>
              </a:rPr>
              <a:t>Reduces development time</a:t>
            </a:r>
          </a:p>
          <a:p>
            <a:pPr marL="604515" lvl="1" indent="-302257" algn="l">
              <a:lnSpc>
                <a:spcPts val="3919"/>
              </a:lnSpc>
              <a:buFont typeface="Arial"/>
              <a:buChar char="•"/>
            </a:pPr>
            <a:r>
              <a:rPr lang="en-US" sz="2799">
                <a:solidFill>
                  <a:srgbClr val="000000"/>
                </a:solidFill>
                <a:latin typeface="Open Sans"/>
                <a:ea typeface="Open Sans"/>
                <a:cs typeface="Open Sans"/>
                <a:sym typeface="Open Sans"/>
              </a:rPr>
              <a:t>Improves usability for users with varying digital literacy levels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2461070" y="1150016"/>
            <a:ext cx="5581174" cy="481330"/>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Open Sans Bold"/>
                <a:ea typeface="Open Sans Bold"/>
                <a:cs typeface="Open Sans Bold"/>
                <a:sym typeface="Open Sans Bold"/>
              </a:rPr>
              <a:t>5. User Interface Structure Plan</a:t>
            </a:r>
          </a:p>
        </p:txBody>
      </p:sp>
      <p:sp>
        <p:nvSpPr>
          <p:cNvPr id="15" name="TextBox 15"/>
          <p:cNvSpPr txBox="1"/>
          <p:nvPr/>
        </p:nvSpPr>
        <p:spPr>
          <a:xfrm>
            <a:off x="2800837" y="1726596"/>
            <a:ext cx="7574756" cy="481331"/>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Open Sans"/>
                <a:ea typeface="Open Sans"/>
                <a:cs typeface="Open Sans"/>
                <a:sym typeface="Open Sans"/>
              </a:rPr>
              <a:t>The system will follow this interface structure:</a:t>
            </a:r>
          </a:p>
        </p:txBody>
      </p:sp>
      <p:sp>
        <p:nvSpPr>
          <p:cNvPr id="16" name="TextBox 16"/>
          <p:cNvSpPr txBox="1"/>
          <p:nvPr/>
        </p:nvSpPr>
        <p:spPr>
          <a:xfrm>
            <a:off x="2062568" y="2443520"/>
            <a:ext cx="2199799" cy="481331"/>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Open Sans Bold"/>
                <a:ea typeface="Open Sans Bold"/>
                <a:cs typeface="Open Sans Bold"/>
                <a:sym typeface="Open Sans Bold"/>
              </a:rPr>
              <a:t>Public Pages</a:t>
            </a:r>
          </a:p>
        </p:txBody>
      </p:sp>
      <p:sp>
        <p:nvSpPr>
          <p:cNvPr id="17" name="TextBox 17"/>
          <p:cNvSpPr txBox="1"/>
          <p:nvPr/>
        </p:nvSpPr>
        <p:spPr>
          <a:xfrm>
            <a:off x="2129385" y="3020101"/>
            <a:ext cx="11990309" cy="2462531"/>
          </a:xfrm>
          <a:prstGeom prst="rect">
            <a:avLst/>
          </a:prstGeom>
        </p:spPr>
        <p:txBody>
          <a:bodyPr lIns="0" tIns="0" rIns="0" bIns="0" rtlCol="0" anchor="t">
            <a:spAutoFit/>
          </a:bodyPr>
          <a:lstStyle/>
          <a:p>
            <a:pPr marL="604515" lvl="1" indent="-302257" algn="just">
              <a:lnSpc>
                <a:spcPts val="3919"/>
              </a:lnSpc>
              <a:buFont typeface="Arial"/>
              <a:buChar char="•"/>
            </a:pPr>
            <a:r>
              <a:rPr lang="en-US" sz="2799">
                <a:solidFill>
                  <a:srgbClr val="000000"/>
                </a:solidFill>
                <a:latin typeface="Open Sans"/>
                <a:ea typeface="Open Sans"/>
                <a:cs typeface="Open Sans"/>
                <a:sym typeface="Open Sans"/>
              </a:rPr>
              <a:t>Home Page – Platform overview and featured jobs</a:t>
            </a:r>
          </a:p>
          <a:p>
            <a:pPr marL="604515" lvl="1" indent="-302257" algn="just">
              <a:lnSpc>
                <a:spcPts val="3919"/>
              </a:lnSpc>
              <a:buFont typeface="Arial"/>
              <a:buChar char="•"/>
            </a:pPr>
            <a:r>
              <a:rPr lang="en-US" sz="2799">
                <a:solidFill>
                  <a:srgbClr val="000000"/>
                </a:solidFill>
                <a:latin typeface="Open Sans"/>
                <a:ea typeface="Open Sans"/>
                <a:cs typeface="Open Sans"/>
                <a:sym typeface="Open Sans"/>
              </a:rPr>
              <a:t>Browse Jobs – Search and filter job listings</a:t>
            </a:r>
          </a:p>
          <a:p>
            <a:pPr marL="604515" lvl="1" indent="-302257" algn="just">
              <a:lnSpc>
                <a:spcPts val="3919"/>
              </a:lnSpc>
              <a:buFont typeface="Arial"/>
              <a:buChar char="•"/>
            </a:pPr>
            <a:r>
              <a:rPr lang="en-US" sz="2799">
                <a:solidFill>
                  <a:srgbClr val="000000"/>
                </a:solidFill>
                <a:latin typeface="Open Sans"/>
                <a:ea typeface="Open Sans"/>
                <a:cs typeface="Open Sans"/>
                <a:sym typeface="Open Sans"/>
              </a:rPr>
              <a:t>Job Categories – White-collar, blue-collar, and household/service jobs</a:t>
            </a:r>
          </a:p>
          <a:p>
            <a:pPr marL="604515" lvl="1" indent="-302257" algn="just">
              <a:lnSpc>
                <a:spcPts val="3919"/>
              </a:lnSpc>
              <a:buFont typeface="Arial"/>
              <a:buChar char="•"/>
            </a:pPr>
            <a:r>
              <a:rPr lang="en-US" sz="2799">
                <a:solidFill>
                  <a:srgbClr val="000000"/>
                </a:solidFill>
                <a:latin typeface="Open Sans"/>
                <a:ea typeface="Open Sans"/>
                <a:cs typeface="Open Sans"/>
                <a:sym typeface="Open Sans"/>
              </a:rPr>
              <a:t>Safety &amp; Awareness – Scam prevention and worker protection</a:t>
            </a:r>
          </a:p>
          <a:p>
            <a:pPr marL="604515" lvl="1" indent="-302257" algn="just">
              <a:lnSpc>
                <a:spcPts val="3919"/>
              </a:lnSpc>
              <a:buFont typeface="Arial"/>
              <a:buChar char="•"/>
            </a:pPr>
            <a:r>
              <a:rPr lang="en-US" sz="2799">
                <a:solidFill>
                  <a:srgbClr val="000000"/>
                </a:solidFill>
                <a:latin typeface="Open Sans"/>
                <a:ea typeface="Open Sans"/>
                <a:cs typeface="Open Sans"/>
                <a:sym typeface="Open Sans"/>
              </a:rPr>
              <a:t>About Page – Purpose and objectives of the platform</a:t>
            </a:r>
          </a:p>
        </p:txBody>
      </p:sp>
      <p:sp>
        <p:nvSpPr>
          <p:cNvPr id="18" name="TextBox 18"/>
          <p:cNvSpPr txBox="1"/>
          <p:nvPr/>
        </p:nvSpPr>
        <p:spPr>
          <a:xfrm>
            <a:off x="2129385" y="5981700"/>
            <a:ext cx="8646063" cy="3948431"/>
          </a:xfrm>
          <a:prstGeom prst="rect">
            <a:avLst/>
          </a:prstGeom>
        </p:spPr>
        <p:txBody>
          <a:bodyPr lIns="0" tIns="0" rIns="0" bIns="0" rtlCol="0" anchor="t">
            <a:spAutoFit/>
          </a:bodyPr>
          <a:lstStyle/>
          <a:p>
            <a:pPr algn="l">
              <a:lnSpc>
                <a:spcPts val="3919"/>
              </a:lnSpc>
              <a:spcBef>
                <a:spcPct val="0"/>
              </a:spcBef>
            </a:pPr>
            <a:r>
              <a:rPr lang="en-US" sz="2799" b="1" dirty="0">
                <a:solidFill>
                  <a:srgbClr val="000000"/>
                </a:solidFill>
                <a:latin typeface="Open Sans"/>
                <a:ea typeface="Open Sans"/>
                <a:cs typeface="Open Sans"/>
                <a:sym typeface="Open Sans"/>
              </a:rPr>
              <a:t>J</a:t>
            </a:r>
            <a:r>
              <a:rPr lang="en-US" sz="2799" b="1" dirty="0">
                <a:solidFill>
                  <a:srgbClr val="000000"/>
                </a:solidFill>
                <a:latin typeface="Open Sans Bold"/>
                <a:ea typeface="Open Sans Bold"/>
                <a:cs typeface="Open Sans Bold"/>
                <a:sym typeface="Open Sans Bold"/>
              </a:rPr>
              <a:t>ob Seeker Dashboard</a:t>
            </a:r>
          </a:p>
          <a:p>
            <a:pPr marL="604515" lvl="1" indent="-302257" algn="l">
              <a:lnSpc>
                <a:spcPts val="3919"/>
              </a:lnSpc>
              <a:buFont typeface="Arial"/>
              <a:buChar char="•"/>
            </a:pPr>
            <a:r>
              <a:rPr lang="en-US" sz="2799" dirty="0">
                <a:solidFill>
                  <a:srgbClr val="000000"/>
                </a:solidFill>
                <a:latin typeface="Open Sans"/>
                <a:ea typeface="Open Sans"/>
                <a:cs typeface="Open Sans"/>
                <a:sym typeface="Open Sans"/>
              </a:rPr>
              <a:t>Profile Management</a:t>
            </a:r>
          </a:p>
          <a:p>
            <a:pPr marL="604515" lvl="1" indent="-302257" algn="l">
              <a:lnSpc>
                <a:spcPts val="3919"/>
              </a:lnSpc>
              <a:buFont typeface="Arial"/>
              <a:buChar char="•"/>
            </a:pPr>
            <a:r>
              <a:rPr lang="en-US" sz="2799" dirty="0">
                <a:solidFill>
                  <a:srgbClr val="000000"/>
                </a:solidFill>
                <a:latin typeface="Open Sans"/>
                <a:ea typeface="Open Sans"/>
                <a:cs typeface="Open Sans"/>
                <a:sym typeface="Open Sans"/>
              </a:rPr>
              <a:t>Saved Jobs</a:t>
            </a:r>
          </a:p>
          <a:p>
            <a:pPr marL="604515" lvl="1" indent="-302257" algn="l">
              <a:lnSpc>
                <a:spcPts val="3919"/>
              </a:lnSpc>
              <a:buFont typeface="Arial"/>
              <a:buChar char="•"/>
            </a:pPr>
            <a:r>
              <a:rPr lang="en-US" sz="2799" dirty="0">
                <a:solidFill>
                  <a:srgbClr val="000000"/>
                </a:solidFill>
                <a:latin typeface="Open Sans"/>
                <a:ea typeface="Open Sans"/>
                <a:cs typeface="Open Sans"/>
                <a:sym typeface="Open Sans"/>
              </a:rPr>
              <a:t>Job Applications and Status Tracking</a:t>
            </a:r>
          </a:p>
          <a:p>
            <a:pPr algn="l">
              <a:lnSpc>
                <a:spcPts val="3919"/>
              </a:lnSpc>
              <a:spcBef>
                <a:spcPct val="0"/>
              </a:spcBef>
            </a:pPr>
            <a:r>
              <a:rPr lang="en-US" sz="2799" b="1" dirty="0">
                <a:solidFill>
                  <a:srgbClr val="000000"/>
                </a:solidFill>
                <a:latin typeface="Open Sans Bold"/>
                <a:ea typeface="Open Sans Bold"/>
                <a:cs typeface="Open Sans Bold"/>
                <a:sym typeface="Open Sans Bold"/>
              </a:rPr>
              <a:t>Employer Dashboard</a:t>
            </a:r>
          </a:p>
          <a:p>
            <a:pPr marL="604515" lvl="1" indent="-302257" algn="l">
              <a:lnSpc>
                <a:spcPts val="3919"/>
              </a:lnSpc>
              <a:buFont typeface="Arial"/>
              <a:buChar char="•"/>
            </a:pPr>
            <a:r>
              <a:rPr lang="en-US" sz="2799" dirty="0">
                <a:solidFill>
                  <a:srgbClr val="000000"/>
                </a:solidFill>
                <a:latin typeface="Open Sans"/>
                <a:ea typeface="Open Sans"/>
                <a:cs typeface="Open Sans"/>
                <a:sym typeface="Open Sans"/>
              </a:rPr>
              <a:t>Employer Profile</a:t>
            </a:r>
          </a:p>
          <a:p>
            <a:pPr marL="604515" lvl="1" indent="-302257" algn="l">
              <a:lnSpc>
                <a:spcPts val="3919"/>
              </a:lnSpc>
              <a:buFont typeface="Arial"/>
              <a:buChar char="•"/>
            </a:pPr>
            <a:r>
              <a:rPr lang="en-US" sz="2799" dirty="0">
                <a:solidFill>
                  <a:srgbClr val="000000"/>
                </a:solidFill>
                <a:latin typeface="Open Sans"/>
                <a:ea typeface="Open Sans"/>
                <a:cs typeface="Open Sans"/>
                <a:sym typeface="Open Sans"/>
              </a:rPr>
              <a:t>Job Posting and Management</a:t>
            </a:r>
          </a:p>
          <a:p>
            <a:pPr marL="604515" lvl="1" indent="-302257" algn="l">
              <a:lnSpc>
                <a:spcPts val="3919"/>
              </a:lnSpc>
              <a:buFont typeface="Arial"/>
              <a:buChar char="•"/>
            </a:pPr>
            <a:r>
              <a:rPr lang="en-US" sz="2799" dirty="0">
                <a:solidFill>
                  <a:srgbClr val="000000"/>
                </a:solidFill>
                <a:latin typeface="Open Sans"/>
                <a:ea typeface="Open Sans"/>
                <a:cs typeface="Open Sans"/>
                <a:sym typeface="Open Sans"/>
              </a:rPr>
              <a:t>Applicant Review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2110651" y="1051935"/>
            <a:ext cx="14133596" cy="8970084"/>
          </a:xfrm>
          <a:prstGeom prst="rect">
            <a:avLst/>
          </a:prstGeom>
          <a:ln>
            <a:noFill/>
          </a:ln>
        </p:spPr>
        <p:txBody>
          <a:bodyPr wrap="square" lIns="0" tIns="0" rIns="0" bIns="0" rtlCol="0" anchor="t">
            <a:spAutoFit/>
          </a:bodyPr>
          <a:lstStyle/>
          <a:p>
            <a:pPr algn="l">
              <a:lnSpc>
                <a:spcPts val="3919"/>
              </a:lnSpc>
              <a:spcBef>
                <a:spcPct val="0"/>
              </a:spcBef>
            </a:pPr>
            <a:r>
              <a:rPr lang="en-US" sz="2799" b="1" dirty="0">
                <a:solidFill>
                  <a:srgbClr val="000000"/>
                </a:solidFill>
                <a:latin typeface="Open Sans"/>
                <a:ea typeface="Open Sans"/>
                <a:cs typeface="Open Sans"/>
                <a:sym typeface="Open Sans"/>
              </a:rPr>
              <a:t>Admin Dashboard</a:t>
            </a:r>
          </a:p>
          <a:p>
            <a:pPr marL="604519" lvl="1" indent="-302260" algn="just">
              <a:lnSpc>
                <a:spcPts val="3919"/>
              </a:lnSpc>
              <a:buFont typeface="Arial"/>
              <a:buChar char="•"/>
            </a:pPr>
            <a:r>
              <a:rPr lang="en-US" sz="2799" dirty="0">
                <a:solidFill>
                  <a:srgbClr val="000000"/>
                </a:solidFill>
                <a:latin typeface="Open Sans"/>
                <a:ea typeface="Open Sans"/>
                <a:cs typeface="Open Sans"/>
                <a:sym typeface="Open Sans"/>
              </a:rPr>
              <a:t>Employer Verification</a:t>
            </a:r>
          </a:p>
          <a:p>
            <a:pPr marL="604519" lvl="1" indent="-302260" algn="just">
              <a:lnSpc>
                <a:spcPts val="3919"/>
              </a:lnSpc>
              <a:buFont typeface="Arial"/>
              <a:buChar char="•"/>
            </a:pPr>
            <a:r>
              <a:rPr lang="en-US" sz="2799" dirty="0">
                <a:solidFill>
                  <a:srgbClr val="000000"/>
                </a:solidFill>
                <a:latin typeface="Open Sans"/>
                <a:ea typeface="Open Sans"/>
                <a:cs typeface="Open Sans"/>
                <a:sym typeface="Open Sans"/>
              </a:rPr>
              <a:t>Job Post Monitoring</a:t>
            </a:r>
          </a:p>
          <a:p>
            <a:pPr marL="604519" lvl="1" indent="-302260" algn="just">
              <a:lnSpc>
                <a:spcPts val="3919"/>
              </a:lnSpc>
              <a:buFont typeface="Arial"/>
              <a:buChar char="•"/>
            </a:pPr>
            <a:r>
              <a:rPr lang="en-US" sz="2799" dirty="0">
                <a:solidFill>
                  <a:srgbClr val="000000"/>
                </a:solidFill>
                <a:latin typeface="Open Sans"/>
                <a:ea typeface="Open Sans"/>
                <a:cs typeface="Open Sans"/>
                <a:sym typeface="Open Sans"/>
              </a:rPr>
              <a:t>Report and Scam Management</a:t>
            </a:r>
          </a:p>
          <a:p>
            <a:pPr marL="604519" lvl="1" indent="-302260" algn="just">
              <a:lnSpc>
                <a:spcPts val="3919"/>
              </a:lnSpc>
              <a:buFont typeface="Arial"/>
              <a:buChar char="•"/>
            </a:pPr>
            <a:r>
              <a:rPr lang="en-US" sz="2799" dirty="0">
                <a:solidFill>
                  <a:srgbClr val="000000"/>
                </a:solidFill>
                <a:latin typeface="Open Sans"/>
                <a:ea typeface="Open Sans"/>
                <a:cs typeface="Open Sans"/>
                <a:sym typeface="Open Sans"/>
              </a:rPr>
              <a:t>System Analytics</a:t>
            </a:r>
          </a:p>
          <a:p>
            <a:pPr marL="302259" lvl="1" algn="just">
              <a:lnSpc>
                <a:spcPts val="3919"/>
              </a:lnSpc>
            </a:pPr>
            <a:endParaRPr lang="en-US" sz="2799" dirty="0">
              <a:solidFill>
                <a:srgbClr val="000000"/>
              </a:solidFill>
              <a:latin typeface="Open Sans"/>
              <a:ea typeface="Open Sans"/>
              <a:cs typeface="Open Sans"/>
              <a:sym typeface="Open Sans"/>
            </a:endParaRPr>
          </a:p>
          <a:p>
            <a:pPr algn="l">
              <a:lnSpc>
                <a:spcPts val="3919"/>
              </a:lnSpc>
              <a:spcBef>
                <a:spcPct val="0"/>
              </a:spcBef>
            </a:pPr>
            <a:r>
              <a:rPr lang="en-US" sz="2799" b="1" dirty="0">
                <a:solidFill>
                  <a:srgbClr val="000000"/>
                </a:solidFill>
                <a:latin typeface="Open Sans Bold"/>
                <a:ea typeface="Open Sans Bold"/>
                <a:cs typeface="Open Sans Bold"/>
                <a:sym typeface="Open Sans Bold"/>
              </a:rPr>
              <a:t>IV. Expected Impact of the Outcome</a:t>
            </a:r>
          </a:p>
          <a:p>
            <a:pPr algn="l">
              <a:lnSpc>
                <a:spcPts val="3919"/>
              </a:lnSpc>
              <a:spcBef>
                <a:spcPct val="0"/>
              </a:spcBef>
            </a:pPr>
            <a:r>
              <a:rPr lang="en-US" sz="2799" dirty="0">
                <a:solidFill>
                  <a:srgbClr val="000000"/>
                </a:solidFill>
                <a:latin typeface="Open Sans"/>
                <a:ea typeface="Open Sans"/>
                <a:cs typeface="Open Sans"/>
                <a:sym typeface="Open Sans"/>
              </a:rPr>
              <a:t>The successful implementation of the project is expected to:</a:t>
            </a:r>
          </a:p>
          <a:p>
            <a:pPr marL="604519" lvl="1" indent="-302260" algn="l">
              <a:lnSpc>
                <a:spcPts val="3919"/>
              </a:lnSpc>
              <a:buFont typeface="Arial"/>
              <a:buChar char="•"/>
            </a:pPr>
            <a:r>
              <a:rPr lang="en-US" sz="2799" dirty="0">
                <a:solidFill>
                  <a:srgbClr val="000000"/>
                </a:solidFill>
                <a:latin typeface="Open Sans"/>
                <a:ea typeface="Open Sans"/>
                <a:cs typeface="Open Sans"/>
                <a:sym typeface="Open Sans"/>
              </a:rPr>
              <a:t>Improve access to befitting work for Filipino workers</a:t>
            </a:r>
          </a:p>
          <a:p>
            <a:pPr marL="604519" lvl="1" indent="-302260" algn="l">
              <a:lnSpc>
                <a:spcPts val="3919"/>
              </a:lnSpc>
              <a:buFont typeface="Arial"/>
              <a:buChar char="•"/>
            </a:pPr>
            <a:r>
              <a:rPr lang="en-US" sz="2799" dirty="0">
                <a:solidFill>
                  <a:srgbClr val="000000"/>
                </a:solidFill>
                <a:latin typeface="Open Sans"/>
                <a:ea typeface="Open Sans"/>
                <a:cs typeface="Open Sans"/>
                <a:sym typeface="Open Sans"/>
              </a:rPr>
              <a:t>Reduce reliance on informal and unsafe recruitment channels</a:t>
            </a:r>
          </a:p>
          <a:p>
            <a:pPr marL="604519" lvl="1" indent="-302260" algn="l">
              <a:lnSpc>
                <a:spcPts val="3919"/>
              </a:lnSpc>
              <a:buFont typeface="Arial"/>
              <a:buChar char="•"/>
            </a:pPr>
            <a:r>
              <a:rPr lang="en-US" sz="2799" dirty="0">
                <a:solidFill>
                  <a:srgbClr val="000000"/>
                </a:solidFill>
                <a:latin typeface="Open Sans"/>
                <a:ea typeface="Open Sans"/>
                <a:cs typeface="Open Sans"/>
                <a:sym typeface="Open Sans"/>
              </a:rPr>
              <a:t>Decrease job scams and fraudulent employment practices</a:t>
            </a:r>
          </a:p>
          <a:p>
            <a:pPr marL="604519" lvl="1" indent="-302260" algn="l">
              <a:lnSpc>
                <a:spcPts val="3919"/>
              </a:lnSpc>
              <a:buFont typeface="Arial"/>
              <a:buChar char="•"/>
            </a:pPr>
            <a:r>
              <a:rPr lang="en-US" sz="2799" dirty="0">
                <a:solidFill>
                  <a:srgbClr val="000000"/>
                </a:solidFill>
                <a:latin typeface="Open Sans"/>
                <a:ea typeface="Open Sans"/>
                <a:cs typeface="Open Sans"/>
                <a:sym typeface="Open Sans"/>
              </a:rPr>
              <a:t>Improve efficiency in employer–worker matching</a:t>
            </a:r>
          </a:p>
          <a:p>
            <a:pPr marL="604519" lvl="1" indent="-302260" algn="l">
              <a:lnSpc>
                <a:spcPts val="3919"/>
              </a:lnSpc>
              <a:buFont typeface="Arial"/>
              <a:buChar char="•"/>
            </a:pPr>
            <a:r>
              <a:rPr lang="en-US" sz="2799" dirty="0">
                <a:solidFill>
                  <a:srgbClr val="000000"/>
                </a:solidFill>
                <a:latin typeface="Open Sans"/>
                <a:ea typeface="Open Sans"/>
                <a:cs typeface="Open Sans"/>
                <a:sym typeface="Open Sans"/>
              </a:rPr>
              <a:t>Enhance economic stability and livelihood security</a:t>
            </a:r>
          </a:p>
          <a:p>
            <a:pPr marL="604519" lvl="1" indent="-302260" algn="l">
              <a:lnSpc>
                <a:spcPts val="3919"/>
              </a:lnSpc>
              <a:buFont typeface="Arial"/>
              <a:buChar char="•"/>
            </a:pPr>
            <a:r>
              <a:rPr lang="en-US" sz="2799" dirty="0">
                <a:solidFill>
                  <a:srgbClr val="000000"/>
                </a:solidFill>
                <a:latin typeface="Open Sans"/>
                <a:ea typeface="Open Sans"/>
                <a:cs typeface="Open Sans"/>
                <a:sym typeface="Open Sans"/>
              </a:rPr>
              <a:t>Support national and global efforts toward decent work and poverty alleviation</a:t>
            </a:r>
          </a:p>
          <a:p>
            <a:pPr marL="604519" lvl="1" indent="-302260" algn="l">
              <a:lnSpc>
                <a:spcPts val="3919"/>
              </a:lnSpc>
              <a:buFont typeface="Arial"/>
              <a:buChar char="•"/>
            </a:pPr>
            <a:r>
              <a:rPr lang="en-US" sz="2799" dirty="0">
                <a:solidFill>
                  <a:srgbClr val="000000"/>
                </a:solidFill>
                <a:latin typeface="Open Sans"/>
                <a:ea typeface="Open Sans"/>
                <a:cs typeface="Open Sans"/>
                <a:sym typeface="Open Sans"/>
              </a:rPr>
              <a:t>By transitioning informal recruitment into a structured digital ecosystem, the platform transforms job-seeking from a cycle of insecurity into a sustainable foundation for livelihood, consistent with the principles outlined by FCT EMIS and national labor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2568943" y="1140437"/>
            <a:ext cx="13505280" cy="8117863"/>
          </a:xfrm>
          <a:prstGeom prst="rect">
            <a:avLst/>
          </a:prstGeom>
        </p:spPr>
        <p:txBody>
          <a:bodyPr lIns="0" tIns="0" rIns="0" bIns="0" rtlCol="0" anchor="t">
            <a:spAutoFit/>
          </a:bodyPr>
          <a:lstStyle/>
          <a:p>
            <a:pPr algn="l">
              <a:lnSpc>
                <a:spcPts val="4583"/>
              </a:lnSpc>
              <a:spcBef>
                <a:spcPct val="0"/>
              </a:spcBef>
            </a:pPr>
            <a:r>
              <a:rPr lang="en-US" sz="3274" b="1">
                <a:solidFill>
                  <a:srgbClr val="000000"/>
                </a:solidFill>
                <a:latin typeface="Open Sans Bold"/>
                <a:ea typeface="Open Sans Bold"/>
                <a:cs typeface="Open Sans Bold"/>
                <a:sym typeface="Open Sans Bold"/>
              </a:rPr>
              <a:t>REFERENCE:</a:t>
            </a:r>
          </a:p>
          <a:p>
            <a:pPr algn="l">
              <a:lnSpc>
                <a:spcPts val="4583"/>
              </a:lnSpc>
              <a:spcBef>
                <a:spcPct val="0"/>
              </a:spcBef>
            </a:pPr>
            <a:endParaRPr lang="en-US" sz="3274" b="1">
              <a:solidFill>
                <a:srgbClr val="000000"/>
              </a:solidFill>
              <a:latin typeface="Open Sans Bold"/>
              <a:ea typeface="Open Sans Bold"/>
              <a:cs typeface="Open Sans Bold"/>
              <a:sym typeface="Open Sans Bold"/>
            </a:endParaRPr>
          </a:p>
          <a:p>
            <a:pPr algn="ctr">
              <a:lnSpc>
                <a:spcPts val="4583"/>
              </a:lnSpc>
              <a:spcBef>
                <a:spcPct val="0"/>
              </a:spcBef>
            </a:pPr>
            <a:r>
              <a:rPr lang="en-US" sz="3274">
                <a:solidFill>
                  <a:srgbClr val="000000"/>
                </a:solidFill>
                <a:latin typeface="Open Sans"/>
                <a:ea typeface="Open Sans"/>
                <a:cs typeface="Open Sans"/>
                <a:sym typeface="Open Sans"/>
              </a:rPr>
              <a:t>FCT EMIS. (n.d.). Importance of employment on alleviating poverty. Retrieved February 6, 2026, from </a:t>
            </a:r>
            <a:r>
              <a:rPr lang="en-US" sz="3274">
                <a:solidFill>
                  <a:srgbClr val="38B6FF"/>
                </a:solidFill>
                <a:latin typeface="Open Sans"/>
                <a:ea typeface="Open Sans"/>
                <a:cs typeface="Open Sans"/>
                <a:sym typeface="Open Sans"/>
              </a:rPr>
              <a:t>https://fctemis.org/notes/21707_IMPORTANCE%20OF%20EMPLOYMENT%20ON%20ALLEVIATING%20POVERTY.pdf</a:t>
            </a:r>
          </a:p>
          <a:p>
            <a:pPr algn="ctr">
              <a:lnSpc>
                <a:spcPts val="4583"/>
              </a:lnSpc>
              <a:spcBef>
                <a:spcPct val="0"/>
              </a:spcBef>
            </a:pPr>
            <a:r>
              <a:rPr lang="en-US" sz="3274">
                <a:solidFill>
                  <a:srgbClr val="000000"/>
                </a:solidFill>
                <a:latin typeface="Open Sans"/>
                <a:ea typeface="Open Sans"/>
                <a:cs typeface="Open Sans"/>
                <a:sym typeface="Open Sans"/>
              </a:rPr>
              <a:t>CPD Online College. (n.d.). All about human trafficking | Legalities, signs &amp; support. Retrieved February 6, 2026, from </a:t>
            </a:r>
            <a:r>
              <a:rPr lang="en-US" sz="3274">
                <a:solidFill>
                  <a:srgbClr val="38B6FF"/>
                </a:solidFill>
                <a:latin typeface="Open Sans"/>
                <a:ea typeface="Open Sans"/>
                <a:cs typeface="Open Sans"/>
                <a:sym typeface="Open Sans"/>
              </a:rPr>
              <a:t>https://cpdonline.co.uk/knowledge-base/safeguarding/human-trafficking-2/</a:t>
            </a:r>
          </a:p>
          <a:p>
            <a:pPr algn="ctr">
              <a:lnSpc>
                <a:spcPts val="4583"/>
              </a:lnSpc>
              <a:spcBef>
                <a:spcPct val="0"/>
              </a:spcBef>
            </a:pPr>
            <a:r>
              <a:rPr lang="en-US" sz="3274">
                <a:solidFill>
                  <a:srgbClr val="000000"/>
                </a:solidFill>
                <a:latin typeface="Open Sans"/>
                <a:ea typeface="Open Sans"/>
                <a:cs typeface="Open Sans"/>
                <a:sym typeface="Open Sans"/>
              </a:rPr>
              <a:t>Clores, K. (2025, November 6). Jobless rate down, but job quality wanes as underemployment rises. INQUIRER.net. </a:t>
            </a:r>
            <a:r>
              <a:rPr lang="en-US" sz="3274">
                <a:solidFill>
                  <a:srgbClr val="38B6FF"/>
                </a:solidFill>
                <a:latin typeface="Open Sans"/>
                <a:ea typeface="Open Sans"/>
                <a:cs typeface="Open Sans"/>
                <a:sym typeface="Open Sans"/>
              </a:rPr>
              <a:t>https://newsinfo.inquirer.net/2135132/unemployment-eases-to-3-8-in-september-says-psa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4013131" y="3908425"/>
            <a:ext cx="10261737" cy="2222501"/>
          </a:xfrm>
          <a:prstGeom prst="rect">
            <a:avLst/>
          </a:prstGeom>
        </p:spPr>
        <p:txBody>
          <a:bodyPr lIns="0" tIns="0" rIns="0" bIns="0" rtlCol="0" anchor="t">
            <a:spAutoFit/>
          </a:bodyPr>
          <a:lstStyle/>
          <a:p>
            <a:pPr algn="ctr">
              <a:lnSpc>
                <a:spcPts val="18199"/>
              </a:lnSpc>
            </a:pPr>
            <a:r>
              <a:rPr lang="en-US" sz="12999" b="1">
                <a:solidFill>
                  <a:srgbClr val="000000"/>
                </a:solidFill>
                <a:latin typeface="Proxima Nova Bold"/>
                <a:ea typeface="Proxima Nova Bold"/>
                <a:cs typeface="Proxima Nova Bold"/>
                <a:sym typeface="Proxima Nova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1141</Words>
  <Application>Microsoft Office PowerPoint</Application>
  <PresentationFormat>Custom</PresentationFormat>
  <Paragraphs>90</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Nunito</vt:lpstr>
      <vt:lpstr>Arial</vt:lpstr>
      <vt:lpstr>Open Sans</vt:lpstr>
      <vt:lpstr>Open Sans Bold</vt:lpstr>
      <vt:lpstr>Calibri</vt:lpstr>
      <vt:lpstr>Proxima Nova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Black Minimalist Simple Project Presentation</dc:title>
  <cp:lastModifiedBy>Asus</cp:lastModifiedBy>
  <cp:revision>3</cp:revision>
  <dcterms:created xsi:type="dcterms:W3CDTF">2006-08-16T00:00:00Z</dcterms:created>
  <dcterms:modified xsi:type="dcterms:W3CDTF">2026-02-07T15:39:04Z</dcterms:modified>
  <dc:identifier>DAHAoKVhEFo</dc:identifier>
</cp:coreProperties>
</file>